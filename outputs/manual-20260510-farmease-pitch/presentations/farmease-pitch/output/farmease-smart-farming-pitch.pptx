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d90e2a8bb4596" /><Relationship Type="http://schemas.openxmlformats.org/officeDocument/2006/relationships/extended-properties" Target="/docProps/app.xml" Id="R5b2098fcf1864938" /><Relationship Type="http://schemas.openxmlformats.org/officeDocument/2006/relationships/officeDocument" Target="/ppt/presentation.xml" Id="R015cc7470234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ba8d1c77a4dd0"/>
  </p:sldMasterIdLst>
  <p:notesMasterIdLst>
    <p:notesMasterId xmlns:r="http://schemas.openxmlformats.org/officeDocument/2006/relationships" r:id="R22aadffb55164713"/>
  </p:notesMasterIdLst>
  <p:sldIdLst>
    <p:sldId xmlns:r="http://schemas.openxmlformats.org/officeDocument/2006/relationships" id="256" r:id="R8ea7343b1bbf43af"/>
    <p:sldId xmlns:r="http://schemas.openxmlformats.org/officeDocument/2006/relationships" id="257" r:id="Rd5948a2845644c2d"/>
    <p:sldId xmlns:r="http://schemas.openxmlformats.org/officeDocument/2006/relationships" id="258" r:id="Rcfee2598e9a7499d"/>
    <p:sldId xmlns:r="http://schemas.openxmlformats.org/officeDocument/2006/relationships" id="259" r:id="R64d70bc16cda4db2"/>
    <p:sldId xmlns:r="http://schemas.openxmlformats.org/officeDocument/2006/relationships" id="260" r:id="R158a3d2b7ce3442e"/>
    <p:sldId xmlns:r="http://schemas.openxmlformats.org/officeDocument/2006/relationships" id="261" r:id="Re7df57ec314d4409"/>
    <p:sldId xmlns:r="http://schemas.openxmlformats.org/officeDocument/2006/relationships" id="262" r:id="R1bb40dbb7cd24894"/>
    <p:sldId xmlns:r="http://schemas.openxmlformats.org/officeDocument/2006/relationships" id="263" r:id="R5e078be8ce8f433e"/>
    <p:sldId xmlns:r="http://schemas.openxmlformats.org/officeDocument/2006/relationships" id="264" r:id="Rd01f4f316eae43bb"/>
    <p:sldId xmlns:r="http://schemas.openxmlformats.org/officeDocument/2006/relationships" id="265" r:id="R3a936838c017402e"/>
    <p:sldId xmlns:r="http://schemas.openxmlformats.org/officeDocument/2006/relationships" id="266" r:id="R88ede61efd4f47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ba8d1c77a4dd0" /><Relationship Type="http://schemas.openxmlformats.org/officeDocument/2006/relationships/theme" Target="/ppt/theme/theme1.xml" Id="R3c523168cd70405f" /><Relationship Type="http://schemas.openxmlformats.org/officeDocument/2006/relationships/notesMaster" Target="/ppt/notesMasters/notesMaster1.xml" Id="R22aadffb55164713" /><Relationship Type="http://schemas.openxmlformats.org/officeDocument/2006/relationships/presProps" Target="/ppt/presProps.xml" Id="R00ff70e165094746" /><Relationship Type="http://schemas.openxmlformats.org/officeDocument/2006/relationships/viewProps" Target="/ppt/viewProps.xml" Id="R6a225b1e87bf4b44" /><Relationship Type="http://schemas.openxmlformats.org/officeDocument/2006/relationships/tableStyles" Target="/ppt/tableStyles.xml" Id="Rea9c0af83c814a6f" /><Relationship Type="http://schemas.openxmlformats.org/officeDocument/2006/relationships/slide" Target="/ppt/slides/slide1.xml" Id="R8ea7343b1bbf43af" /><Relationship Type="http://schemas.openxmlformats.org/officeDocument/2006/relationships/slide" Target="/ppt/slides/slide2.xml" Id="Rd5948a2845644c2d" /><Relationship Type="http://schemas.openxmlformats.org/officeDocument/2006/relationships/slide" Target="/ppt/slides/slide3.xml" Id="Rcfee2598e9a7499d" /><Relationship Type="http://schemas.openxmlformats.org/officeDocument/2006/relationships/slide" Target="/ppt/slides/slide4.xml" Id="R64d70bc16cda4db2" /><Relationship Type="http://schemas.openxmlformats.org/officeDocument/2006/relationships/slide" Target="/ppt/slides/slide5.xml" Id="R158a3d2b7ce3442e" /><Relationship Type="http://schemas.openxmlformats.org/officeDocument/2006/relationships/slide" Target="/ppt/slides/slide6.xml" Id="Re7df57ec314d4409" /><Relationship Type="http://schemas.openxmlformats.org/officeDocument/2006/relationships/slide" Target="/ppt/slides/slide7.xml" Id="R1bb40dbb7cd24894" /><Relationship Type="http://schemas.openxmlformats.org/officeDocument/2006/relationships/slide" Target="/ppt/slides/slide8.xml" Id="R5e078be8ce8f433e" /><Relationship Type="http://schemas.openxmlformats.org/officeDocument/2006/relationships/slide" Target="/ppt/slides/slide9.xml" Id="Rd01f4f316eae43bb" /><Relationship Type="http://schemas.openxmlformats.org/officeDocument/2006/relationships/slide" Target="/ppt/slides/slide10.xml" Id="R3a936838c017402e" /><Relationship Type="http://schemas.openxmlformats.org/officeDocument/2006/relationships/slide" Target="/ppt/slides/slide11.xml" Id="R88ede61efd4f47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d1a351b092f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999310ce14214" /><Relationship Type="http://schemas.openxmlformats.org/officeDocument/2006/relationships/notesMaster" Target="/ppt/notesMasters/notesMaster1.xml" Id="R9d63bcb314ce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fcb0e653754b2b" /><Relationship Type="http://schemas.openxmlformats.org/officeDocument/2006/relationships/notesMaster" Target="/ppt/notesMasters/notesMaster1.xml" Id="Rf63be2afd73540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17a6bcb754ceb" /><Relationship Type="http://schemas.openxmlformats.org/officeDocument/2006/relationships/notesMaster" Target="/ppt/notesMasters/notesMaster1.xml" Id="R6791086626f5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4ef3bb43d34e0a" /><Relationship Type="http://schemas.openxmlformats.org/officeDocument/2006/relationships/notesMaster" Target="/ppt/notesMasters/notesMaster1.xml" Id="Rb80a317f346048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3f4f03702748b9" /><Relationship Type="http://schemas.openxmlformats.org/officeDocument/2006/relationships/notesMaster" Target="/ppt/notesMasters/notesMaster1.xml" Id="R114d7e2d584a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88ab339b544ec5" /><Relationship Type="http://schemas.openxmlformats.org/officeDocument/2006/relationships/notesMaster" Target="/ppt/notesMasters/notesMaster1.xml" Id="R95ee8cf0b4d449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f2c2e75acf4573" /><Relationship Type="http://schemas.openxmlformats.org/officeDocument/2006/relationships/notesMaster" Target="/ppt/notesMasters/notesMaster1.xml" Id="Rdff1a44a58444a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2b12dac5974ecb" /><Relationship Type="http://schemas.openxmlformats.org/officeDocument/2006/relationships/notesMaster" Target="/ppt/notesMasters/notesMaster1.xml" Id="Rdeb906c6dcb44f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451838dc1431b" /><Relationship Type="http://schemas.openxmlformats.org/officeDocument/2006/relationships/notesMaster" Target="/ppt/notesMasters/notesMaster1.xml" Id="Rcaf7bbdddc4c4c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dc11fa243440a6" /><Relationship Type="http://schemas.openxmlformats.org/officeDocument/2006/relationships/notesMaster" Target="/ppt/notesMasters/notesMaster1.xml" Id="R02df27db9a974c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3b7b056a5d4bb0" /><Relationship Type="http://schemas.openxmlformats.org/officeDocument/2006/relationships/notesMaster" Target="/ppt/notesMasters/notesMaster1.xml" Id="Rfd0b9a6b527e40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22586cf66493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3fe87df2084224" /><Relationship Type="http://schemas.openxmlformats.org/officeDocument/2006/relationships/slideLayout" Target="/ppt/slideLayouts/slideLayout2.xml" Id="R32b8eebf0600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b8eebf0600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24908405704f74" /><Relationship Type="http://schemas.openxmlformats.org/officeDocument/2006/relationships/image" Target="/ppt/media/image.jpeg" Id="R4ce9050f872b4e83" /><Relationship Type="http://schemas.openxmlformats.org/officeDocument/2006/relationships/image" Target="/ppt/media/image.png" Id="Rc40a56d6b4a94b55" /><Relationship Type="http://schemas.openxmlformats.org/officeDocument/2006/relationships/notesSlide" Target="/ppt/notesSlides/notesSlide1.xml" Id="R1b497bc6a127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970f50f3484050" /><Relationship Type="http://schemas.openxmlformats.org/officeDocument/2006/relationships/notesSlide" Target="/ppt/notesSlides/notesSlide2.xml" Id="Re39e7506a0fe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74aa22862449a" /><Relationship Type="http://schemas.openxmlformats.org/officeDocument/2006/relationships/notesSlide" Target="/ppt/notesSlides/notesSlide3.xml" Id="R3e3d4cd5c4c241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3fd15201a4d9d" /><Relationship Type="http://schemas.openxmlformats.org/officeDocument/2006/relationships/notesSlide" Target="/ppt/notesSlides/notesSlide4.xml" Id="R9ac88a070d5944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cf257873b84060" /><Relationship Type="http://schemas.openxmlformats.org/officeDocument/2006/relationships/image" Target="/ppt/media/image2.png" Id="Rcc0eaa04790840ea" /><Relationship Type="http://schemas.openxmlformats.org/officeDocument/2006/relationships/image" Target="/ppt/media/image.svg" Id="Ra06cd04b8e2c4199" /><Relationship Type="http://schemas.openxmlformats.org/officeDocument/2006/relationships/image" Target="/ppt/media/image3.png" Id="Rebf1f65f78854e5b" /><Relationship Type="http://schemas.openxmlformats.org/officeDocument/2006/relationships/image" Target="/ppt/media/image2.svg" Id="Rf37ceeb5f38e4336" /><Relationship Type="http://schemas.openxmlformats.org/officeDocument/2006/relationships/image" Target="/ppt/media/image4.png" Id="R39952cb1a38c48b5" /><Relationship Type="http://schemas.openxmlformats.org/officeDocument/2006/relationships/image" Target="/ppt/media/image3.svg" Id="Rb88e2262ca8f436d" /><Relationship Type="http://schemas.openxmlformats.org/officeDocument/2006/relationships/image" Target="/ppt/media/image5.png" Id="Rff8e03a4717a4d11" /><Relationship Type="http://schemas.openxmlformats.org/officeDocument/2006/relationships/image" Target="/ppt/media/image4.svg" Id="Rb80f4c4610004184" /><Relationship Type="http://schemas.openxmlformats.org/officeDocument/2006/relationships/image" Target="/ppt/media/image6.png" Id="R7868c911ddf84c4b" /><Relationship Type="http://schemas.openxmlformats.org/officeDocument/2006/relationships/image" Target="/ppt/media/image5.svg" Id="R29d931165ccf4a69" /><Relationship Type="http://schemas.openxmlformats.org/officeDocument/2006/relationships/notesSlide" Target="/ppt/notesSlides/notesSlide5.xml" Id="R1bd613bc495148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7a2aadf71b4aff" /><Relationship Type="http://schemas.openxmlformats.org/officeDocument/2006/relationships/image" Target="/ppt/media/image7.png" Id="R588bb4f2e1874db0" /><Relationship Type="http://schemas.openxmlformats.org/officeDocument/2006/relationships/notesSlide" Target="/ppt/notesSlides/notesSlide6.xml" Id="R08d8f3ede6204e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1e2d53afa4d8a" /><Relationship Type="http://schemas.openxmlformats.org/officeDocument/2006/relationships/notesSlide" Target="/ppt/notesSlides/notesSlide7.xml" Id="R4bd717f697f3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b137e9d79649eb" /><Relationship Type="http://schemas.openxmlformats.org/officeDocument/2006/relationships/notesSlide" Target="/ppt/notesSlides/notesSlide8.xml" Id="Rbe587251518d41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8e56abb3114c9f" /><Relationship Type="http://schemas.openxmlformats.org/officeDocument/2006/relationships/notesSlide" Target="/ppt/notesSlides/notesSlide9.xml" Id="Rb01b6586331943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920fe993604941" /><Relationship Type="http://schemas.openxmlformats.org/officeDocument/2006/relationships/notesSlide" Target="/ppt/notesSlides/notesSlide10.xml" Id="R91d92d0a5a2347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44a875e5054fa2" /><Relationship Type="http://schemas.openxmlformats.org/officeDocument/2006/relationships/notesSlide" Target="/ppt/notesSlides/notesSlide11.xml" Id="R71fc5dcd2cfc45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36FA9-5FBF-460E-B0AE-D7D65C5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F3FD9-979D-4E37-9725-0564585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12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9050f872b4e83"/>
          <a:srcRect xmlns:a="http://schemas.openxmlformats.org/drawingml/2006/main" l="0" t="3125" r="0" b="3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a56d6b4a94b55"/>
          <a:stretch xmlns:a="http://schemas.openxmlformats.org/drawingml/2006/main"/>
        </p:blipFill>
        <p:spPr>
          <a:xfrm xmlns:a="http://schemas.openxmlformats.org/drawingml/2006/main">
            <a:off x="628650" y="423019"/>
            <a:ext cx="323850" cy="2398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E37D-D82D-4BF7-B100-4D437B9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FarmEase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DF2CF-5F22-4D40-8E90-D8F5452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DDDCC-D3C8-415B-A000-6EDBB68F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PRODUCT PITCH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2F312-B3A9-4807-B2FA-62519D7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FarmEase makes farm decisions faster, local, and actionable.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79508-CF73-487E-B6E9-EC2D1806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An AI-assisted agriculture platform that brings weather, mandi prices, disease detection, crop recommendation, and community help into one mobile-first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EF79D-2FC3-48AA-B15B-E1E7C01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Prepared 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B190A-5D20-4059-A46D-7760FE1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Polana Rakshita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09114-6552-46EF-9658-F4A553B0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19250"/>
            <a:ext cx="1752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E9EA-EE74-4615-B4F8-68AD3D5E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37D11-09F1-415B-8C9B-0D9DEEEA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Connected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1F291-6629-4158-9D22-05C7993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Weather, markets, diagnosis, recommendation, and community are handled inside one product.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57E2D-6409-440E-876C-173193D3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1752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66641-EE9C-455D-8667-C80A4C66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716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84BB1-7E2C-44CA-A2ED-EBFBF77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574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Visible languages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58A53-E66F-4D5F-9DBB-701F2456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479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The signed-in app exposes EN, HI, and TE toggles for wider accessibility.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8A10E-F559-4180-982B-AAB0DAFE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1752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EB0BA-6117-41AA-BD7B-D3439D1D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50 km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C94A4-3B47-4015-917E-EA147D90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Local market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B32EA-A515-4A13-9286-759FB3EE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The live mandi screen frames coverage around the farmer's nearby market radius.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07946-0F72-48C6-9234-8306A754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17526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78BE0-8925-4888-921C-B4BE4983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861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818D6-DF32-41D1-A462-573C429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Unified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7643A-AAD7-4383-BEED-9FA385C8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The first screen already combines alerts, market signals, and action prompts.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62E88-B13F-4D9B-A414-4B84E6D4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771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91E">
              <a:alpha val="90196"/>
            </a:srgbClr>
          </a:solidFill>
          <a:ln xmlns:a="http://schemas.openxmlformats.org/drawingml/2006/main" w="9525">
            <a:solidFill>
              <a:srgbClr val="76C9A6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5F57C-1387-416C-BA1D-39F637D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4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Rubric fit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1F1745-2840-494C-B5D6-916BF78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958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This deck is structured directly around problem framing, research insights, solution logic, before/after impact, and reflection.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204B2-F06F-4EBB-846D-E90E516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EA3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3DE6C-7CDE-493F-9C94-BA187C3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9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B9B0"/>
                </a:solidFill>
                <a:latin typeface="Aptos"/>
                <a:ea typeface="Aptos"/>
                <a:cs typeface="Aptos"/>
              </a:rPr>
              <a:t>Source: FarmEase live product audit + local repository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57277F-A890-4C64-A367-DE5013F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9B0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8B9B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3256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CF994-0836-4A9C-A45B-A2F03F2F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9F8309-3DD9-4175-9F3A-A1A1B06F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BE98B6-DF9B-4582-BC4E-7484185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P R O B L E M   F R A M I N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F3FEA-7644-4D59-8114-9B13AB6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Farmers are not solving one problem. They are juggling three high-stakes decisions at once.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D8571-F21F-4D97-B82B-9933ED65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FarmEase exists because daily farm management is fragmented across weather checks, market calls, memory, and reactive problem-solving.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4476A-F985-4D55-A9E2-2C6D452D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2476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33123">
              <a:alpha val="94902"/>
            </a:srgbClr>
          </a:solidFill>
          <a:ln xmlns:a="http://schemas.openxmlformats.org/drawingml/2006/main" w="9525">
            <a:solidFill>
              <a:srgbClr val="71C8A5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67378-2A05-4E45-8A54-DA69F54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480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Farmer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E6AF6-589E-4FE5-8EA2-63E4A99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Needs quick, local, trustworthy action cues on a phone, not scattered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7826A-8E8B-4612-A261-8BBEE320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371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71D">
              <a:alpha val="90196"/>
            </a:srgbClr>
          </a:solidFill>
          <a:ln xmlns:a="http://schemas.openxmlformats.org/drawingml/2006/main" w="9525">
            <a:solidFill>
              <a:srgbClr val="6FC8A8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1A2A5-0D51-4D2D-B112-03A252A7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Weather 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40050-79D2-4911-96F2-946CC4B9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990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Farmers need local temperature, humidity, wind, and rain signals before irrigation or sowing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7D12D-A1E8-4360-B696-9135CCF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371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71D">
              <a:alpha val="90196"/>
            </a:srgbClr>
          </a:solidFill>
          <a:ln xmlns:a="http://schemas.openxmlformats.org/drawingml/2006/main" w="9525">
            <a:solidFill>
              <a:srgbClr val="6FC8A8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290FE-D696-4AF8-9137-EF51471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Crop health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EF9E5-69B2-4773-9ABF-CB7BFB14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990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Plant diseases escalate quickly, but diagnosis is often delayed until visible damage becomes expensive.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5BC73-1B8A-443D-9150-33F04C56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19650"/>
            <a:ext cx="3371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71D">
              <a:alpha val="90196"/>
            </a:srgbClr>
          </a:solidFill>
          <a:ln xmlns:a="http://schemas.openxmlformats.org/drawingml/2006/main" w="9525">
            <a:solidFill>
              <a:srgbClr val="6FC8A8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29239-38FB-4786-B86A-1354F950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911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Price timing 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666D2-9AFB-4396-A5CE-42DE0F6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353050"/>
            <a:ext cx="2990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Selling too early or to the wrong mandi can reduce margin because local price visibility is fragmented.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90B4E-45DC-4920-AC11-A0C459B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19425"/>
            <a:ext cx="819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9966B-BC47-4104-BF8D-0541EB63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819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1983B-14E8-48F4-96E4-F37596C2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142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100D2-A4D6-4215-97EE-7B5C2D8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EA3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180D9-757E-4F1A-8C0B-B5957FE9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9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B9B0"/>
                </a:solidFill>
                <a:latin typeface="Aptos"/>
                <a:ea typeface="Aptos"/>
                <a:cs typeface="Aptos"/>
              </a:rPr>
              <a:t>Problem framing based on observed product modules and repository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2B26B-7D32-4032-8756-CA59C5B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9B0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8B9B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64192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621F9-95CD-4E93-8757-B694CF17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C4A26E-9079-4024-9832-025338A3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D327EB-C698-403D-BE40-CBD34D7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7645D"/>
                </a:solidFill>
                <a:latin typeface="Aptos"/>
                <a:ea typeface="Aptos"/>
                <a:cs typeface="Aptos"/>
              </a:rPr>
              <a:t>P R O B L E M   F R A M I N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C331E-C57C-4B8B-A75A-25BD0217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The real user is last-mile, mobile-first, and needs the product to earn trust quickly.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296F6-DBA8-4648-B333-02D6179E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strongest evidence is visible in the live app itself: location prompts, language switching, manual fallback paths, and action-first cards.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DD6F7-9809-4E72-AE95-A64BB08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448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F0623-D8DE-4643-994C-332297A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B7A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4B7A5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46F4C-A4BC-45AF-A4AA-25D3177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Where is your farm? We need your location to provide accurate weather and market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16F7C-6EF0-471D-93E4-A15CCF58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105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Observed in the signed-in onboarding modal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BCEA0-8230-4120-94C4-E433A576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3448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6A994-12E2-43E2-A312-BBB1D134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B7A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4B7A5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9EF96-9112-4D16-AD5F-93B1A2B6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Source: AGMARKNET India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0264F-FF84-4F04-AE95-F17A5DEF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3105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Observed in the live mandi page footer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92F92-95A6-4803-BC77-961968EB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3448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765AE-3C7B-49FF-A921-3D446B28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EN / HI / 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56645-E85D-4CFC-BA9D-0E8AB283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Stakeholder cue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A3620-DBA0-4BC7-A31A-0556CB19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3105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UI is already designed for multilingual access, which matters for real farmer adoption.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21777-C0BE-47A2-8E47-38714AB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69342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5B4F4-E8C2-4A3B-9746-4528F96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Key stakeholders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ED86B-8623-4D4D-8514-A6532672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Farmers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53FFC-9A96-4C7C-B7B8-DE70DEAA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33675"/>
            <a:ext cx="436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Need fast local decisions, simple inputs, and visible confidence cues.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F7F0B-43D1-4082-A257-9FAC33A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343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BF33C-77D3-43DA-8B29-7FE6066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Market sellers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B94BA-659E-4A81-BB0A-52E8561A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14725"/>
            <a:ext cx="436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Need better timing on where and when to sell produce.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72A1D-D027-46F9-8A6C-BDB672F7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6343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DBD1D-86E9-408E-B8E8-215B96BD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86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Agri advisors / experts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91C6F-2005-4095-8BBA-7A5AA1AD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95775"/>
            <a:ext cx="436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Need a way to extend guidance through diagnosis, alerts, and community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F222D-EB56-49C0-B0BE-5C84B4E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6343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EF060-8337-47A1-8F80-EBF506D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673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Product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EE8CC-426E-4276-9474-13885A3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76825"/>
            <a:ext cx="436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Needs reliability across weather APIs, ML services, auth, and location handling.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68612-C91C-473B-8FE6-2E57E4B2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5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C36765-A21F-406B-BDAF-A82153E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68"/>
                </a:solidFill>
                <a:latin typeface="Aptos"/>
                <a:ea typeface="Aptos"/>
                <a:cs typeface="Aptos"/>
              </a:rPr>
              <a:t>Evidence: live UI audit, modal copy, language toggles, and local component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764B4-14A0-47C7-90B9-58042BA1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6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1706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6046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042EA3-B510-44FD-9CE2-5298A5B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A71F16-E2C0-4EDE-B461-16CEF80F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584323-00F6-4D89-8DEE-C322AE61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7645D"/>
                </a:solidFill>
                <a:latin typeface="Aptos"/>
                <a:ea typeface="Aptos"/>
                <a:cs typeface="Aptos"/>
              </a:rPr>
              <a:t>R E S E A R C H   I N S I G H T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F53B1-A178-4B63-81DB-FF77943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The need is real: agriculture is large, crop loss is costly, and local price discovery is still messy.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12C2E-1AF2-4F5D-89D4-F9CFBAC3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247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03C8D-4D6D-4820-AE7C-2C558D5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41.6%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682A7-5CEF-45AF-BE14-57BB7F2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India employment in agriculture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FC2E1-13C1-4C18-8D39-708317D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Most recent World Bank value retrieved for India (2025), showing how large the user base remains.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C584-4809-41B9-8697-4562D949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2247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AA1D4-33BC-484A-9C44-954F9E88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20–40%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12B66-91E5-4BFE-9D3E-7C99DE04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Crop loss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142B1-4AAD-4875-AAE8-0DF9E7FB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FAO estimates plant pests and diseases reduce yields by roughly 20–40%, making early detection valuable.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38009-2DD1-47D3-AD94-90C89DD2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62150"/>
            <a:ext cx="2247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406E6-4B08-4DC4-A379-C7C7117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145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1 local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83210-AC11-4843-B094-33A8171A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Market simplification need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2C7FC-B140-4FB4-A6CF-5C1DD8EA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FarmEase uses AGMARKNET-linked market signals because local mandi timing still matters in practice.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3350F-9371-4AF2-ABF4-418EC73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3162300" cy="39814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EDC55-1428-45E8-9DB0-57A3E466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What this means for FarmEase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C5014-B73C-4C98-976C-8F19E1C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Insight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55091-9528-4635-A851-DD51481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A farmer product cannot be desktop-heavy or abstract; it has to work on a phone in short bursts.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3B4E8-38E0-44B7-9BB3-A4AD1287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Insight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B271A-CF36-49DB-B676-E5790BCF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Plant health and selling decisions both need speed, which justifies the action-first dashboard and diagnosis entry points.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3B5CD-D4B6-4D0F-AC7B-35522F64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Insight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A10CA8-013F-4A8B-BA35-5BFAE4B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Location and language are not edge features; they are core trust features that change whether the product is usable at all.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EF4E6-892D-49E8-990C-A2D9CAF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435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Observed 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5E592-E63A-4E8B-8AB9-25F8B24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7210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live app already exposes language toggles, a location modal, manual city selection, and market radius framing.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9E950-565F-4A70-9037-FF4B8A74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5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AA993-E35D-4A64-B678-F38B84B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68"/>
                </a:solidFill>
                <a:latin typeface="Aptos"/>
                <a:ea typeface="Aptos"/>
                <a:cs typeface="Aptos"/>
              </a:rPr>
              <a:t>Sources: World Bank SL.AGR.EMPL.ZS (India, 2025), FAO plant health pages, FarmEase market and dashboard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D9395-A24E-45B5-B029-7AEBAC1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6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1706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87580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D5A23-6D35-462A-9248-08B1974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5558F15-CDB8-4244-BCF9-BED74CA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D264D9-CB09-4E03-86A0-2F41B9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S O L U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7CBA9-8188-4430-BAA1-E584BE54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FarmEase is strongest when read as a connected decision platform, not a pile of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46DF3-0F96-4E36-8661-208974ED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The architecture works in layers: farmer inputs and location on top, decision modules in the middle, and live data plus ML services underneath.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A68DC-6738-4F02-9533-202B436C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225">
              <a:alpha val="90196"/>
            </a:srgbClr>
          </a:solidFill>
          <a:ln xmlns:a="http://schemas.openxmlformats.org/drawingml/2006/main" w="9525">
            <a:solidFill>
              <a:srgbClr val="74C8A8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4256B-B54F-4008-B59D-AB149516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Farmer touchpoints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eaa04790840ea">
            <a:extLst>
              <a:ext uri="{96DAC541-7B7A-43D3-8B79-37D633B846F1}">
                <asvg:svgBlip xmlns:asvg="http://schemas.microsoft.com/office/drawing/2016/SVG/main" r:embed="Ra06cd04b8e2c41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51064-4ACA-4A64-AB78-0953B4E8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765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1f65f78854e5b">
            <a:extLst>
              <a:ext uri="{96DAC541-7B7A-43D3-8B79-37D633B846F1}">
                <asvg:svgBlip xmlns:asvg="http://schemas.microsoft.com/office/drawing/2016/SVG/main" r:embed="Rf37ceeb5f38e43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6700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7282C-5F6D-4F6A-9696-484C35F1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765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Language toggle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52cb1a38c48b5">
            <a:extLst>
              <a:ext uri="{96DAC541-7B7A-43D3-8B79-37D633B846F1}">
                <asvg:svgBlip xmlns:asvg="http://schemas.microsoft.com/office/drawing/2016/SVG/main" r:embed="Rb88e2262ca8f43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E7B95-1100-4C13-A154-D171F950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65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Voice / AI entry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e03a4717a4d11">
            <a:extLst>
              <a:ext uri="{96DAC541-7B7A-43D3-8B79-37D633B846F1}">
                <asvg:svgBlip xmlns:asvg="http://schemas.microsoft.com/office/drawing/2016/SVG/main" r:embed="Rb80f4c46100041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54ADC-9482-48D2-8EFC-44F497EF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765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Mobile dashboard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8c911ddf84c4b">
            <a:extLst>
              <a:ext uri="{96DAC541-7B7A-43D3-8B79-37D633B846F1}">
                <asvg:svgBlip xmlns:asvg="http://schemas.microsoft.com/office/drawing/2016/SVG/main" r:embed="R29d931165ccf4a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8CE1E-70C0-4F8B-9E1C-1607FE05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765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Member account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1E714-A8E6-4A76-B239-2FF0E00A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85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281E">
              <a:alpha val="85098"/>
            </a:srgbClr>
          </a:solidFill>
          <a:ln xmlns:a="http://schemas.openxmlformats.org/drawingml/2006/main" w="9525">
            <a:solidFill>
              <a:srgbClr val="74C8A8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4A767-79B0-468C-AF82-8C1DA619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Core decision modules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90FDC-D943-4784-BEA6-450B989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82A">
              <a:alpha val="90196"/>
            </a:srgbClr>
          </a:solidFill>
          <a:ln xmlns:a="http://schemas.openxmlformats.org/drawingml/2006/main" w="9525">
            <a:solidFill>
              <a:srgbClr val="8AD3B3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E6156-6927-4CB3-82CB-B4F66B21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C683C-AB6A-4A52-8CBD-3C9F1FF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05250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82A">
              <a:alpha val="90196"/>
            </a:srgbClr>
          </a:solidFill>
          <a:ln xmlns:a="http://schemas.openxmlformats.org/drawingml/2006/main" w="9525">
            <a:solidFill>
              <a:srgbClr val="8AD3B3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5854C-BAFD-413D-98AE-551FF30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957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16DF6-DB09-4620-AB24-D0D4DE0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82A">
              <a:alpha val="90196"/>
            </a:srgbClr>
          </a:solidFill>
          <a:ln xmlns:a="http://schemas.openxmlformats.org/drawingml/2006/main" w="9525">
            <a:solidFill>
              <a:srgbClr val="8AD3B3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A9A20-70AF-4EB4-8499-0AD2AA5F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Plant Doctor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94F5B-5084-434C-B0DA-78114776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82A">
              <a:alpha val="90196"/>
            </a:srgbClr>
          </a:solidFill>
          <a:ln xmlns:a="http://schemas.openxmlformats.org/drawingml/2006/main" w="9525">
            <a:solidFill>
              <a:srgbClr val="8AD3B3">
                <a:alpha val="2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F7E84-C08E-41D0-88AE-2DBF8F1C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Crop Recommendation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E56F2-D126-4D53-ADC1-035969D9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82A">
              <a:alpha val="90196"/>
            </a:srgbClr>
          </a:solidFill>
          <a:ln xmlns:a="http://schemas.openxmlformats.org/drawingml/2006/main" w="9525">
            <a:solidFill>
              <a:srgbClr val="8AD3B3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BCB38-7351-4E65-99C9-D6C90BCE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Community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EF28A5-F8F6-4899-AF46-55088914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3224">
              <a:alpha val="80000"/>
            </a:srgbClr>
          </a:solidFill>
          <a:ln xmlns:a="http://schemas.openxmlformats.org/drawingml/2006/main" w="9525">
            <a:solidFill>
              <a:srgbClr val="74C8A8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4828A-ECF7-4390-8A87-5C06EB97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Data and intelligence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B5597-E411-4806-AD3F-179E097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Weather APIs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FEA84-FA58-4280-AE2C-72A29EF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38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AGMARKNET market signals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9C8D32-B673-4F30-B854-1DDA05AD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38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TensorFlow / ML diagnosis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88DCC0-65A2-433B-B902-6C3ADA5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38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Location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9B0E9-9F16-4E08-A3A1-B7DF9F83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BF8"/>
                </a:solidFill>
                <a:latin typeface="Aptos"/>
                <a:ea typeface="Aptos"/>
                <a:cs typeface="Aptos"/>
              </a:rPr>
              <a:t>Auth + membership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B021BC-60DB-427C-993E-C04E780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EA3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82DEE-6DF4-48D5-9C07-96453DD8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9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B9B0"/>
                </a:solidFill>
                <a:latin typeface="Aptos"/>
                <a:ea typeface="Aptos"/>
                <a:cs typeface="Aptos"/>
              </a:rPr>
              <a:t>Architecture distilled from observed routes and frontend/backend component structure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2F6728-778D-4D01-A76A-3E34395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9B0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8B9B0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91676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D96EA-C88B-47E8-B8C2-D4BCCE20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F68111-C738-474E-B671-A0D59E99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62F3EC-2DAF-46C8-BC7C-73F5B1E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7645D"/>
                </a:solidFill>
                <a:latin typeface="Aptos"/>
                <a:ea typeface="Aptos"/>
                <a:cs typeface="Aptos"/>
              </a:rPr>
              <a:t>D E S I G N   D E C I S I O N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31FD4-68A1-4B47-88DA-6C211E2E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819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The interface choices show intent: reduce friction first, then add intelligence.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bb4f2e1874db0"/>
          <a:stretch xmlns:a="http://schemas.openxmlformats.org/drawingml/2006/main"/>
        </p:blipFill>
        <p:spPr>
          <a:xfrm xmlns:a="http://schemas.openxmlformats.org/drawingml/2006/main">
            <a:off x="666750" y="2357857"/>
            <a:ext cx="3238500" cy="303763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6F8DF-60CE-4B96-BB5F-2DD756BE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65532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49DBC-61D5-4A04-B70B-AD5361A5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Action-first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AC740-BE90-4F61-ADE3-1A7ED14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24075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first screen does not hide value behind menus; it immediately shows actions, alerts, trends, and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E918E-AA37-4C86-AB34-FD3ECF6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67000"/>
            <a:ext cx="5943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D4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81674-940F-4D15-BBB3-08BD7D6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Location + manual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C3604-5B95-4B7B-A2B7-8629D302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market flow asks for location, but still provides manual city selection when detection fails.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C6027-71A5-4A1E-9053-413AA9F8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5943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D4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438E4-5DED-49F7-A694-6867B19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Multilingual accessibility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A5666-632A-44F4-A24C-64DF1DE3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76675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Visible EN / HI / TE toggles acknowledge that adoption depends on language comfort, not just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B8439-9F9E-4549-8315-DEC73638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5943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D4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AB887-97E1-476D-B166-90105249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Glass-on-dark visual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59AC5-DBDC-4787-9D76-50E7477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same emerald-teal glass aesthetic from the landing page carries into the signed-in product, which builds brand coherence.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09381-B43E-4332-96B3-716C47DB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5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4D0B7-EA2F-434C-9A22-40A8B02F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68"/>
                </a:solidFill>
                <a:latin typeface="Aptos"/>
                <a:ea typeface="Aptos"/>
                <a:cs typeface="Aptos"/>
              </a:rPr>
              <a:t>Screenshot captured from the authenticated dashboard; rationale derived from live UI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5D9B5-BE0E-496E-AB4E-B9AA9569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6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1706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8760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4438AD-EEA5-4481-B799-9E34E7C5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DA1D4B3-0B33-4F86-AC2A-972F5E3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14631E-2435-4AEB-AAA1-2ED79AA2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S Y S T E M   T H I N K I N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5CB4D-0647-4C6E-AD28-DA2EB2F7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The real value is the loop: context in, signals in, action out, support when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1DC37-554E-4071-893F-9285F37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This is why FarmEase feels more mature than a single-feature prototype. Each module has a role inside a larger decision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B7A27-6FEB-44ED-BCF3-643DDF07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2209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2C20">
              <a:alpha val="90980"/>
            </a:srgbClr>
          </a:solidFill>
          <a:ln xmlns:a="http://schemas.openxmlformats.org/drawingml/2006/main" w="9525">
            <a:solidFill>
              <a:srgbClr val="73C8A8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7CE97-6F3B-4349-B633-C5857650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1. Set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7255C-DFB2-49B8-844B-B6AA0B6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44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Farmer location, language, and account state establish the local decision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8EEC5-4740-4B26-AF20-C2115C71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37188-DBFB-4C19-B30C-1A380F9D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7000"/>
            <a:ext cx="1714500" cy="2209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2C20">
              <a:alpha val="90980"/>
            </a:srgbClr>
          </a:solidFill>
          <a:ln xmlns:a="http://schemas.openxmlformats.org/drawingml/2006/main" w="9525">
            <a:solidFill>
              <a:srgbClr val="73C8A8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9472B-7F9F-4048-AC20-1F2FF3F8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2. Read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AF1C9-0948-4960-B075-032CF15C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144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Weather, mandi prices, and crop status enter the workflow from APIs and ML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BDD04-9B09-40C5-A816-5806476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5A272-1AE5-4E0B-8039-DE92633E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1714500" cy="2209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2C20">
              <a:alpha val="90980"/>
            </a:srgbClr>
          </a:solidFill>
          <a:ln xmlns:a="http://schemas.openxmlformats.org/drawingml/2006/main" w="9525">
            <a:solidFill>
              <a:srgbClr val="73C8A8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7463F-786C-44A4-92E1-2C538ED9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76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3. Convert to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DFDDB-2467-46A3-B5AD-1448AACE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05200"/>
            <a:ext cx="144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Dashboard cards, plant diagnosis, and crop recommendation turn signals into concrete next steps.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8E343-36AB-4663-8E7B-29EE20C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52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41C06-566D-4861-8BDB-193B7D3E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1714500" cy="2209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2C20">
              <a:alpha val="90980"/>
            </a:srgbClr>
          </a:solidFill>
          <a:ln xmlns:a="http://schemas.openxmlformats.org/drawingml/2006/main" w="9525">
            <a:solidFill>
              <a:srgbClr val="73C8A8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8CB9D-B254-4BC6-AF34-3AD2F6FB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4. Escalate when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1341B-223A-4FC7-BCCB-C3ABC4E5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05200"/>
            <a:ext cx="144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Community / Kisan Charcha adds a human support layer when confidence or edge cases 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E999D-9986-4129-8090-164D1AB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67751-2F47-4F75-AEAF-A091765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1714500" cy="2209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2C20">
              <a:alpha val="90980"/>
            </a:srgbClr>
          </a:solidFill>
          <a:ln xmlns:a="http://schemas.openxmlformats.org/drawingml/2006/main" w="9525">
            <a:solidFill>
              <a:srgbClr val="73C8A8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AFB4C-3BA6-4072-BB08-DFDC741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5. Loop 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7BB15-BE06-49B9-9506-5960AA0A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05200"/>
            <a:ext cx="144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Every new farm update or market refresh improves the next recommendation and the next selling decision.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9507F-EBFE-4DDF-916B-A4D82CE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5638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82A">
              <a:alpha val="86275"/>
            </a:srgbClr>
          </a:solidFill>
          <a:ln xmlns:a="http://schemas.openxmlformats.org/drawingml/2006/main" w="9525">
            <a:solidFill>
              <a:srgbClr val="7AC8A9">
                <a:alpha val="2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88B57-6B01-483E-9E5E-334852A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483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94B65-1682-41B7-AAB1-DC7B7D4E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388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7FBF8"/>
                </a:solidFill>
                <a:latin typeface="Aptos"/>
                <a:ea typeface="Aptos"/>
                <a:cs typeface="Aptos"/>
              </a:rPr>
              <a:t>A feature list can impress a panel. A decision loop shows system thinking, which is what makes the product scalable and teachable.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F425AD-0CC1-49F5-A8F0-2A53D9B3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EA3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BD3C7-DC8A-45F3-9F0B-F00478ED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9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B9B0"/>
                </a:solidFill>
                <a:latin typeface="Aptos"/>
                <a:ea typeface="Aptos"/>
                <a:cs typeface="Aptos"/>
              </a:rPr>
              <a:t>System flow synthesized from dashboard, market, diagnosis, recommendation, and community modules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54E1AA-707B-43FD-9598-FC735B32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9B0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8B9B0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78080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134B2-A896-4BF1-A90D-BF0BD282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D8AD6F-B361-4D06-9D5A-CE6CB886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AB4724-3327-4BF8-A72A-38F665D8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7645D"/>
                </a:solidFill>
                <a:latin typeface="Aptos"/>
                <a:ea typeface="Aptos"/>
                <a:cs typeface="Aptos"/>
              </a:rPr>
              <a:t>B E F O R E   /   A F T E 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A27D8-C070-4C41-897B-7454338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FarmEase changes the workflow from fragmented searching to guided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B4917-A62E-425F-B4D6-E9C1607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1435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8F6"/>
          </a:solidFill>
          <a:ln xmlns:a="http://schemas.openxmlformats.org/drawingml/2006/main" w="9525">
            <a:solidFill>
              <a:srgbClr val="ECCF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D76BF-08CC-4A4D-B634-0E3DFBBF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51625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C9EA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BB0A0-5A2A-47F6-B515-C0E036E2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7272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D67272"/>
                </a:solidFill>
                <a:latin typeface="Georgia"/>
                <a:ea typeface="Georgia"/>
                <a:cs typeface="Georgia"/>
              </a:rPr>
              <a:t>Before FarmEase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4CE7D-99D3-4C2B-AA5F-C6F92C2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B7A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4B7A5"/>
                </a:solidFill>
                <a:latin typeface="Georgia"/>
                <a:ea typeface="Georgia"/>
                <a:cs typeface="Georgia"/>
              </a:rPr>
              <a:t>After FarmEase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775D0-18A4-4C8E-88A1-E3D90D7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72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7272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357EF-EE16-4433-9BF3-076FB04C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Weather checked in one place, market prices in another, and disease advice somewhere else.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37A86-E308-4D9F-8A7A-B982F50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72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7272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31EB8-DD33-4D56-B4A3-F62862F4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Selling decisions depend on phone calls, memory, or delayed market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3491D-37D8-4C99-975D-7B3C1002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72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7272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11521-CEB7-4CFB-AA74-A801FA67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No single dashboard to prioritize what the farmer should do first today.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9F7EB-39BC-410D-9582-7FAD331B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72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7272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D864D-2420-44D3-AA01-7D9294B9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Support is reactive: ask for help only after the problem becomes urgent.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F6F0E-8415-4457-882A-E9FAE39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1466A-4F06-44DF-93C6-8FB1F872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One dashboard surfaces local signals, action cards, and alerts together.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D9FB0-5401-44A1-BB86-4851EC75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A3ED8-D7B4-40E9-BF04-1E3A4A9A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Market view frames nearby mandis, crop filters, and timing cues in one flow.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0129C-8CF8-4F51-A8EA-E77F743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052A1-F1B8-41D6-ADC9-C074465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338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Plant Doctor and Crop Recommendation shorten the path from uncertainty to action.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69BA3-11BE-408D-A8B7-B7E7FAB7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149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B7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B7A5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61EE3-C35C-4F61-85AF-3F8C12F5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33950"/>
            <a:ext cx="426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Community becomes a built-in escalation path instead of a separate step.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9D9FB-AA66-4DA4-965F-2239CFE1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5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21D2A-1CD5-4FFC-8089-E4769D97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68"/>
                </a:solidFill>
                <a:latin typeface="Aptos"/>
                <a:ea typeface="Aptos"/>
                <a:cs typeface="Aptos"/>
              </a:rPr>
              <a:t>Comparison framed as workflow transformation, not yet as field-validated outcome 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A2409-2095-4FAE-9F7F-B20C7592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6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17068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1993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A6A26-59E3-463F-8018-F859CC9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9C8943-3F8D-4CFE-83CF-7D394A95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653EA6-A826-4FE9-B7E7-86F7808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I M P A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50032-F3BA-4BA9-BB50-275AEDA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The measurable impact today is product compression: more farm decisions handled in one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075C0-FC6B-4EA4-8A2B-2E0D6BAF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These are prototype-level impact signals, not field-study claims. They still show clear improvement in decision coverage and product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1EE13-A268-4BA2-88C2-1CC9F98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343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70601-1A09-4F2F-8C13-D47164D0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5 →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D5DDD-EF8C-4E2B-B940-8250683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Decision surfaces compressed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46BA9-5EA7-4295-A618-1BE98C01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Weather, markets, diagnosis, recommendation, and community now converge in one product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07E64-1CF7-43CB-9800-29E7C6BA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52650"/>
            <a:ext cx="2343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12E68-2E7B-46EA-9817-A9680EF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2767-9A22-4AB0-B0DB-8ABCF10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Languages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1350D-223D-4936-8708-DA7CBA4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The app visibly supports English, Hindi, and Telugu toggles for broader reach.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997A1-CCB5-4F5B-A9EE-B018FAD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2343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8B682-F097-43A7-B0EF-A098B8DD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50 km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6F174-C942-4EF1-B159-36D56538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90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Local market framing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7F746-3DAC-42ED-A424-7A7C84E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The mandi page already frames decisions around nearby coverage instead of generic national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6194C-8512-45B3-BDDC-C261D56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2343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3223">
              <a:alpha val="85098"/>
            </a:srgbClr>
          </a:solidFill>
          <a:ln xmlns:a="http://schemas.openxmlformats.org/drawingml/2006/main" w="9525">
            <a:solidFill>
              <a:srgbClr val="70C8A1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3F2B7-43E8-425C-9142-1D17FDB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24/7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3FA9E-1DD8-4C51-BC24-A3EE513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Always-on interface 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E1A0C-26BA-4E52-8BFC-5EE48B2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2D6C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2D6CB"/>
                </a:solidFill>
                <a:latin typeface="Aptos"/>
                <a:ea typeface="Aptos"/>
                <a:cs typeface="Aptos"/>
              </a:rPr>
              <a:t>The landing page positions the platform as continuously available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EEB61-89FD-4D6D-8C3B-21611568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0584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0281D">
              <a:alpha val="90196"/>
            </a:srgbClr>
          </a:solidFill>
          <a:ln xmlns:a="http://schemas.openxmlformats.org/drawingml/2006/main" w="9525">
            <a:solidFill>
              <a:srgbClr val="76C9A8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F6F28-FEA3-4A0A-8480-570DAAB8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What improved qualitatively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3306C-B265-4EA7-A6B7-DF50D6C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7620D-FC73-49CC-A938-24DD2A7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918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Fewer context switches between apps, memory, and manual checking.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E718B-CFE5-4E54-A95A-07C9F6A8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FD5A09-BD64-4C6F-A086-9A8D8F4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918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Better trust through visible fallbacks like manual city selection when location fails.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C3184-5D4B-491E-81ED-78F21589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5A458-98D4-472C-BCF5-B1A147E0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918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Faster path from uncertainty to action because recommendations sit next to the daily dashboard.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C31F5-A6D2-4126-9CFE-165D7709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35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AA6F7F-AFA1-48F8-AD36-53C1C0B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918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Stronger retention potential because community and premium membership make the app sticky beyond one-time use.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DF083-116C-4030-AB27-B65014AB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EA3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8EBB63-9330-42AE-81AD-474F33C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9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B9B0"/>
                </a:solidFill>
                <a:latin typeface="Aptos"/>
                <a:ea typeface="Aptos"/>
                <a:cs typeface="Aptos"/>
              </a:rPr>
              <a:t>Impact slide uses observed product scope and workflow simplification, not invented adoption outcomes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76C1F-1A5B-4B59-8D2F-6F0791E3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9B0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8B9B0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4281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1C7CF-A53B-4A54-AD61-E6A1F333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9468F5-A7BC-4715-8341-87BB3D4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0641C3-E977-468B-A202-A391F21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7645D"/>
                </a:solidFill>
                <a:latin typeface="Aptos"/>
                <a:ea typeface="Aptos"/>
                <a:cs typeface="Aptos"/>
              </a:rPr>
              <a:t>R E F L E C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31650-E476-4B23-B311-798D553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The biggest learning was that a good agri product has to feel dependable before it feels advanced.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764A9-9439-43B0-B545-C6E83AE5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105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62B11-2E38-4305-BF00-6B5889C4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B7A5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4B7A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3C314-B98A-4468-AC30-55D1CF9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Trust beats novelty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D91D6-3C07-4643-9A76-80AA870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product became stronger when location fallback, market provenance, and visible action cards were prioritized over flashy extras.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7D227-A0A4-4D0B-B596-68A2FCF7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05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F0473-CE62-42EC-8B23-839CE09C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B04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1B0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ADD86-B38F-4713-AD22-8FBE003C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Reliability is part of 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28285-847F-4AD6-B190-7D3D4C6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Deployment notes show that ML uptime and token freshness are not backend details; they directly affect whether the user trusts the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C4FCA-C245-48B8-8160-1438DC2C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105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AEB1B-06F8-471C-AE43-9E330C0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B7A5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4B7A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C2F58-2D43-426F-A6DA-B8CAA63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Localization is product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CD1B6-55E7-4D00-9420-7B47C9EB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Language toggles and manual city selection are not polish. They are adoption levers for the actual audience.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A6386-FD7E-4193-8AF2-D1E3F652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105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9AD95-4811-46A2-AAFB-3204522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B04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1B04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A7AF7-2BB3-4871-8F16-B9337679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81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41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C241F"/>
                </a:solidFill>
                <a:latin typeface="Georgia"/>
                <a:ea typeface="Georgia"/>
                <a:cs typeface="Georgia"/>
              </a:rPr>
              <a:t>System thinking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4D044-2FC1-4DB9-A572-104C060A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645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7645D"/>
                </a:solidFill>
                <a:latin typeface="Aptos"/>
                <a:ea typeface="Aptos"/>
                <a:cs typeface="Aptos"/>
              </a:rPr>
              <a:t>The project became more coherent when each screen was treated as part of a loop rather than as a standalone feature demo.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E85AF-61E0-481B-8105-08B7057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65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6CBFB-2D31-4FEF-8D68-0158D40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68"/>
                </a:solidFill>
                <a:latin typeface="Aptos"/>
                <a:ea typeface="Aptos"/>
                <a:cs typeface="Aptos"/>
              </a:rPr>
              <a:t>Reflection grounded in live product behavior plus deployment and reliability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4E75E-3CBE-48AA-B983-758AA738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6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17068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354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8100A-2211-44EB-8089-85285BB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212166-6A99-4C98-8BCF-162094E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4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924AC8-37E2-4FA8-A0CA-46BD682F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N E X T   S T E P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42389-6CDB-4213-BF5E-D7739E6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BF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F7FBF8"/>
                </a:solidFill>
                <a:latin typeface="Georgia"/>
                <a:ea typeface="Georgia"/>
                <a:cs typeface="Georgia"/>
              </a:rPr>
              <a:t>The next milestone is simple: turn a strong prototype into a reliable farmer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D68C6-5C39-4656-90E8-715B57D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D8CA"/>
                </a:solidFill>
                <a:latin typeface="Aptos"/>
                <a:ea typeface="Aptos"/>
                <a:cs typeface="Aptos"/>
              </a:rPr>
              <a:t>FarmEase already demonstrates clear product thinking. The next phase should validate it with reliability improvements and real user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6C4FD-7099-4C92-B52C-7CECAD12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38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91E">
              <a:alpha val="90196"/>
            </a:srgbClr>
          </a:solidFill>
          <a:ln xmlns:a="http://schemas.openxmlformats.org/drawingml/2006/main" w="9525">
            <a:solidFill>
              <a:srgbClr val="75C9A6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56739-308D-4148-8907-23E7807E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4A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53D4AC"/>
                </a:solidFill>
                <a:latin typeface="Georgia"/>
                <a:ea typeface="Georgia"/>
                <a:cs typeface="Georgia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F3738-A18D-491E-85DF-F469DBAD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819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BF8"/>
                </a:solidFill>
                <a:latin typeface="Aptos"/>
                <a:ea typeface="Aptos"/>
                <a:cs typeface="Aptos"/>
              </a:rPr>
              <a:t>Stabilize production ML services, tighten auth refresh flows, and keep market synchronization dependable.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FFB3C-1A7A-47D0-9A4A-6184279B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238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7392B">
              <a:alpha val="86275"/>
            </a:srgbClr>
          </a:solidFill>
          <a:ln xmlns:a="http://schemas.openxmlformats.org/drawingml/2006/main" w="9525">
            <a:solidFill>
              <a:srgbClr val="75C9A6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9C0C8-11B1-4C68-9518-83662476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90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4A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53D4AC"/>
                </a:solidFill>
                <a:latin typeface="Georgia"/>
                <a:ea typeface="Georgia"/>
                <a:cs typeface="Georgia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A43B5-C40D-461B-B0DA-01346FA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2819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BF8"/>
                </a:solidFill>
                <a:latin typeface="Aptos"/>
                <a:ea typeface="Aptos"/>
                <a:cs typeface="Aptos"/>
              </a:rPr>
              <a:t>Run farmer testing to validate which dashboard actions, diagnoses, and recommendations are most trusted.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B4348-9E22-43E5-8FFB-97326811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91E">
              <a:alpha val="90196"/>
            </a:srgbClr>
          </a:solidFill>
          <a:ln xmlns:a="http://schemas.openxmlformats.org/drawingml/2006/main" w="9525">
            <a:solidFill>
              <a:srgbClr val="75C9A6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F8383-7C73-42A7-B797-33957FF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4A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53D4AC"/>
                </a:solidFill>
                <a:latin typeface="Georgia"/>
                <a:ea typeface="Georgia"/>
                <a:cs typeface="Georgia"/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51DF2-AD1B-491B-B6E0-DB55048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2819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BF8"/>
                </a:solidFill>
                <a:latin typeface="Aptos"/>
                <a:ea typeface="Aptos"/>
                <a:cs typeface="Aptos"/>
              </a:rPr>
              <a:t>Measure real behavior: repeat use, recommendation accuracy, time-to-decision, and mandi price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A2FBA-E910-4E9D-B1DF-3E1246B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382A">
              <a:alpha val="81569"/>
            </a:srgbClr>
          </a:solidFill>
          <a:ln xmlns:a="http://schemas.openxmlformats.org/drawingml/2006/main" w="9525">
            <a:solidFill>
              <a:srgbClr val="76C9A6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C7755-AB07-4F47-B2AD-65B54AC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D4A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D4AC"/>
                </a:solidFill>
                <a:latin typeface="Aptos"/>
                <a:ea typeface="Aptos"/>
                <a:cs typeface="Aptos"/>
              </a:rPr>
              <a:t>Closing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5B266-52AD-4945-BA07-2654CC5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BF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7FBF8"/>
                </a:solidFill>
                <a:latin typeface="Aptos"/>
                <a:ea typeface="Aptos"/>
                <a:cs typeface="Aptos"/>
              </a:rPr>
              <a:t>FarmEase is promising because it does not just show AI features. It shows how weather, crop health, price timing, and community support can become one coherent farmer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5C719-7511-48EB-BEF5-05E6CF1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8C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D8CA"/>
                </a:solidFill>
                <a:latin typeface="Aptos"/>
                <a:ea typeface="Aptos"/>
                <a:cs typeface="Aptos"/>
              </a:rPr>
              <a:t>Polana Rakshita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BE6A3-5AF8-476C-A0FA-4B019730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EA3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99751-6C11-4577-9D3B-111A89F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9B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8B9B0"/>
                </a:solidFill>
                <a:latin typeface="Aptos"/>
                <a:ea typeface="Aptos"/>
                <a:cs typeface="Aptos"/>
              </a:rPr>
              <a:t>Next steps informed by DEPLOYMENT_STATUS.md and the live authenticated product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6B50D-0FD8-49C4-AABD-1BDB34C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9B0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8B9B0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0164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2026-05-10T15:08:27.2820000Z</dcterms:created>
  <dcterms:modified xsi:type="dcterms:W3CDTF">2026-05-10T15:08:27.2820000Z</dcterms:modified>
</coreProperties>
</file>